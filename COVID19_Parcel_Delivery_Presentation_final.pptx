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Parcels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49099478</c:v>
                </c:pt>
                <c:pt idx="1">
                  <c:v>52823114</c:v>
                </c:pt>
                <c:pt idx="2">
                  <c:v>73475690</c:v>
                </c:pt>
                <c:pt idx="3">
                  <c:v>48679668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2E86C1"/>
            </a:solidFill>
            <a:ln w="25400" cap="flat">
              <a:solidFill>
                <a:srgbClr val="2E86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C1"/>
              </a:solidFill>
              <a:ln w="9525" cap="flat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</c:lvl>
              </c:multiLvlStrCache>
            </c:multiLvl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814361</c:v>
                </c:pt>
                <c:pt idx="1">
                  <c:v>1048800</c:v>
                </c:pt>
                <c:pt idx="2">
                  <c:v>1073634</c:v>
                </c:pt>
                <c:pt idx="3">
                  <c:v>937502</c:v>
                </c:pt>
                <c:pt idx="4">
                  <c:v>870849</c:v>
                </c:pt>
                <c:pt idx="5">
                  <c:v>788670</c:v>
                </c:pt>
                <c:pt idx="6">
                  <c:v>938386</c:v>
                </c:pt>
                <c:pt idx="7">
                  <c:v>764078</c:v>
                </c:pt>
                <c:pt idx="8">
                  <c:v>803745</c:v>
                </c:pt>
                <c:pt idx="9">
                  <c:v>792805</c:v>
                </c:pt>
                <c:pt idx="10">
                  <c:v>879574</c:v>
                </c:pt>
                <c:pt idx="11">
                  <c:v>864583</c:v>
                </c:pt>
                <c:pt idx="12">
                  <c:v>853762</c:v>
                </c:pt>
                <c:pt idx="13">
                  <c:v>817979</c:v>
                </c:pt>
                <c:pt idx="14">
                  <c:v>874088</c:v>
                </c:pt>
                <c:pt idx="15">
                  <c:v>879169</c:v>
                </c:pt>
                <c:pt idx="16">
                  <c:v>912863</c:v>
                </c:pt>
                <c:pt idx="17">
                  <c:v>1059240</c:v>
                </c:pt>
                <c:pt idx="18">
                  <c:v>1102598</c:v>
                </c:pt>
                <c:pt idx="19">
                  <c:v>951212</c:v>
                </c:pt>
                <c:pt idx="20">
                  <c:v>874423</c:v>
                </c:pt>
                <c:pt idx="21">
                  <c:v>881149</c:v>
                </c:pt>
                <c:pt idx="22">
                  <c:v>883913</c:v>
                </c:pt>
                <c:pt idx="23">
                  <c:v>958393</c:v>
                </c:pt>
                <c:pt idx="24">
                  <c:v>913925</c:v>
                </c:pt>
                <c:pt idx="25">
                  <c:v>860909</c:v>
                </c:pt>
                <c:pt idx="26">
                  <c:v>813454</c:v>
                </c:pt>
                <c:pt idx="27">
                  <c:v>980602</c:v>
                </c:pt>
                <c:pt idx="28">
                  <c:v>935925</c:v>
                </c:pt>
                <c:pt idx="29">
                  <c:v>883204</c:v>
                </c:pt>
                <c:pt idx="30">
                  <c:v>886248</c:v>
                </c:pt>
                <c:pt idx="31">
                  <c:v>815116</c:v>
                </c:pt>
                <c:pt idx="32">
                  <c:v>847028</c:v>
                </c:pt>
                <c:pt idx="33">
                  <c:v>977478</c:v>
                </c:pt>
                <c:pt idx="34">
                  <c:v>965679</c:v>
                </c:pt>
                <c:pt idx="35">
                  <c:v>856524</c:v>
                </c:pt>
                <c:pt idx="36">
                  <c:v>917470</c:v>
                </c:pt>
                <c:pt idx="37">
                  <c:v>962901</c:v>
                </c:pt>
                <c:pt idx="38">
                  <c:v>957015</c:v>
                </c:pt>
                <c:pt idx="39">
                  <c:v>889764</c:v>
                </c:pt>
                <c:pt idx="40">
                  <c:v>926572</c:v>
                </c:pt>
                <c:pt idx="41">
                  <c:v>1012358</c:v>
                </c:pt>
                <c:pt idx="42">
                  <c:v>1026545</c:v>
                </c:pt>
                <c:pt idx="43">
                  <c:v>1037382</c:v>
                </c:pt>
                <c:pt idx="44">
                  <c:v>1238944</c:v>
                </c:pt>
                <c:pt idx="45">
                  <c:v>1296707</c:v>
                </c:pt>
                <c:pt idx="46">
                  <c:v>1331492</c:v>
                </c:pt>
                <c:pt idx="47">
                  <c:v>1790660</c:v>
                </c:pt>
                <c:pt idx="48">
                  <c:v>2506405</c:v>
                </c:pt>
                <c:pt idx="49">
                  <c:v>1736772</c:v>
                </c:pt>
                <c:pt idx="50">
                  <c:v>1321183</c:v>
                </c:pt>
                <c:pt idx="51">
                  <c:v>916585</c:v>
                </c:pt>
                <c:pt idx="52">
                  <c:v>592491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E67E22"/>
            </a:solidFill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</c:lvl>
              </c:multiLvlStrCache>
            </c:multiLvlStrRef>
          </c:cat>
          <c:val>
            <c:numRef>
              <c:f>Sheet1!$C$2:$C$54</c:f>
              <c:numCache>
                <c:formatCode>General</c:formatCode>
                <c:ptCount val="53"/>
                <c:pt idx="0">
                  <c:v>554951</c:v>
                </c:pt>
                <c:pt idx="1">
                  <c:v>1078417</c:v>
                </c:pt>
                <c:pt idx="2">
                  <c:v>1008084</c:v>
                </c:pt>
                <c:pt idx="3">
                  <c:v>934713</c:v>
                </c:pt>
                <c:pt idx="4">
                  <c:v>938521</c:v>
                </c:pt>
                <c:pt idx="5">
                  <c:v>873763</c:v>
                </c:pt>
                <c:pt idx="6">
                  <c:v>786626</c:v>
                </c:pt>
                <c:pt idx="7">
                  <c:v>882633</c:v>
                </c:pt>
                <c:pt idx="8">
                  <c:v>903362</c:v>
                </c:pt>
                <c:pt idx="9">
                  <c:v>891398</c:v>
                </c:pt>
                <c:pt idx="10">
                  <c:v>887335</c:v>
                </c:pt>
                <c:pt idx="11">
                  <c:v>967436</c:v>
                </c:pt>
                <c:pt idx="12">
                  <c:v>1084829</c:v>
                </c:pt>
                <c:pt idx="13">
                  <c:v>1346802</c:v>
                </c:pt>
                <c:pt idx="14">
                  <c:v>1480147</c:v>
                </c:pt>
                <c:pt idx="15">
                  <c:v>2003866</c:v>
                </c:pt>
                <c:pt idx="16">
                  <c:v>1914740</c:v>
                </c:pt>
                <c:pt idx="17">
                  <c:v>1964582</c:v>
                </c:pt>
                <c:pt idx="18">
                  <c:v>2016316</c:v>
                </c:pt>
                <c:pt idx="19">
                  <c:v>2048931</c:v>
                </c:pt>
                <c:pt idx="20">
                  <c:v>1842820</c:v>
                </c:pt>
                <c:pt idx="21">
                  <c:v>1749399</c:v>
                </c:pt>
                <c:pt idx="22">
                  <c:v>1672111</c:v>
                </c:pt>
                <c:pt idx="23">
                  <c:v>1598331</c:v>
                </c:pt>
                <c:pt idx="24">
                  <c:v>1454647</c:v>
                </c:pt>
                <c:pt idx="25">
                  <c:v>1426303</c:v>
                </c:pt>
                <c:pt idx="26">
                  <c:v>1306604</c:v>
                </c:pt>
                <c:pt idx="27">
                  <c:v>1371776</c:v>
                </c:pt>
                <c:pt idx="28">
                  <c:v>1269835</c:v>
                </c:pt>
                <c:pt idx="29">
                  <c:v>1319267</c:v>
                </c:pt>
                <c:pt idx="30">
                  <c:v>1205036</c:v>
                </c:pt>
                <c:pt idx="31">
                  <c:v>1250590</c:v>
                </c:pt>
                <c:pt idx="32">
                  <c:v>1228359</c:v>
                </c:pt>
                <c:pt idx="33">
                  <c:v>1286856</c:v>
                </c:pt>
                <c:pt idx="34">
                  <c:v>1240796</c:v>
                </c:pt>
                <c:pt idx="35">
                  <c:v>1273737</c:v>
                </c:pt>
                <c:pt idx="36">
                  <c:v>1135972</c:v>
                </c:pt>
                <c:pt idx="37">
                  <c:v>1285061</c:v>
                </c:pt>
                <c:pt idx="38">
                  <c:v>1214387</c:v>
                </c:pt>
                <c:pt idx="39">
                  <c:v>1108258</c:v>
                </c:pt>
                <c:pt idx="40">
                  <c:v>1275676</c:v>
                </c:pt>
                <c:pt idx="41">
                  <c:v>1240437</c:v>
                </c:pt>
                <c:pt idx="42">
                  <c:v>1379348</c:v>
                </c:pt>
                <c:pt idx="43">
                  <c:v>1370162</c:v>
                </c:pt>
                <c:pt idx="44">
                  <c:v>1451789</c:v>
                </c:pt>
                <c:pt idx="45">
                  <c:v>1600614</c:v>
                </c:pt>
                <c:pt idx="46">
                  <c:v>1792533</c:v>
                </c:pt>
                <c:pt idx="47">
                  <c:v>2302321</c:v>
                </c:pt>
                <c:pt idx="48">
                  <c:v>2952342</c:v>
                </c:pt>
                <c:pt idx="49">
                  <c:v>2104379</c:v>
                </c:pt>
                <c:pt idx="50">
                  <c:v>1714827</c:v>
                </c:pt>
                <c:pt idx="51">
                  <c:v>1063727</c:v>
                </c:pt>
                <c:pt idx="52">
                  <c:v>1419938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2019-20</c:v>
                </c:pt>
              </c:strCache>
            </c:strRef>
          </c:tx>
          <c:spPr>
            <a:solidFill>
              <a:srgbClr val="5D6D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Wk 45-53 (2019)</c:v>
                  </c:pt>
                  <c:pt idx="1">
                    <c:v>Wk 1-3 (2020)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11003931</c:v>
                </c:pt>
                <c:pt idx="1">
                  <c:v>4368760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Peak 2020-21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Wk 45-53 (2020)</c:v>
                  </c:pt>
                  <c:pt idx="1">
                    <c:v>Wk 1-3 (2021)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15172312</c:v>
                </c:pt>
                <c:pt idx="1">
                  <c:v>4270595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bubble3D val="0"/>
            <c:spPr>
              <a:solidFill>
                <a:srgbClr val="2ECC71"/>
              </a:solidFill>
              <a:effectLst/>
            </c:spPr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High Growth</c:v>
                </c:pt>
                <c:pt idx="1">
                  <c:v>Declining</c:v>
                </c:pt>
                <c:pt idx="2">
                  <c:v>Stable</c:v>
                </c:pt>
                <c:pt idx="3">
                  <c:v>Lost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56.3</c:v>
                </c:pt>
                <c:pt idx="1">
                  <c:v>33.8</c:v>
                </c:pt>
                <c:pt idx="2">
                  <c:v>7.1</c:v>
                </c:pt>
                <c:pt idx="3">
                  <c:v>2.8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%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Large</c:v>
                  </c:pt>
                  <c:pt idx="2">
                    <c:v>Medium</c:v>
                  </c:pt>
                  <c:pt idx="3">
                    <c:v>Small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42.1</c:v>
                </c:pt>
                <c:pt idx="2">
                  <c:v>47.4</c:v>
                </c:pt>
                <c:pt idx="3">
                  <c:v>67.7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Growth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Large</c:v>
                  </c:pt>
                  <c:pt idx="2">
                    <c:v>Medium</c:v>
                  </c:pt>
                  <c:pt idx="3">
                    <c:v>Small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52.8</c:v>
                </c:pt>
                <c:pt idx="2">
                  <c:v>57.7</c:v>
                </c:pt>
                <c:pt idx="3">
                  <c:v>56.2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Stable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Large</c:v>
                  </c:pt>
                  <c:pt idx="2">
                    <c:v>Medium</c:v>
                  </c:pt>
                  <c:pt idx="3">
                    <c:v>Small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</c:v>
                </c:pt>
                <c:pt idx="1">
                  <c:v>8.5</c:v>
                </c:pt>
                <c:pt idx="2">
                  <c:v>4.5</c:v>
                </c:pt>
                <c:pt idx="3">
                  <c:v>7.2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Declining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Large</c:v>
                  </c:pt>
                  <c:pt idx="2">
                    <c:v>Medium</c:v>
                  </c:pt>
                  <c:pt idx="3">
                    <c:v>Small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24.1</c:v>
                </c:pt>
                <c:pt idx="1">
                  <c:v>36.3</c:v>
                </c:pt>
                <c:pt idx="2">
                  <c:v>34.3</c:v>
                </c:pt>
                <c:pt idx="3">
                  <c:v>33.6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Lost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Large</c:v>
                  </c:pt>
                  <c:pt idx="2">
                    <c:v>Medium</c:v>
                  </c:pt>
                  <c:pt idx="3">
                    <c:v>Small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2.4</c:v>
                </c:pt>
                <c:pt idx="2">
                  <c:v>3.4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 Revenue ($M)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Large</c:v>
                  </c:pt>
                  <c:pt idx="2">
                    <c:v>Medium</c:v>
                  </c:pt>
                  <c:pt idx="3">
                    <c:v>Small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1022.8</c:v>
                </c:pt>
                <c:pt idx="1">
                  <c:v>92.2</c:v>
                </c:pt>
                <c:pt idx="2">
                  <c:v>26.8</c:v>
                </c:pt>
                <c:pt idx="3">
                  <c:v>20.3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 Revenue ($M)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Large</c:v>
                  </c:pt>
                  <c:pt idx="2">
                    <c:v>Medium</c:v>
                  </c:pt>
                  <c:pt idx="3">
                    <c:v>Small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1411.9</c:v>
                </c:pt>
                <c:pt idx="1">
                  <c:v>131</c:v>
                </c:pt>
                <c:pt idx="2">
                  <c:v>39.4</c:v>
                </c:pt>
                <c:pt idx="3">
                  <c:v>34.1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457200"/>
            <a:ext cx="3840480" cy="384048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0"/>
            <a:ext cx="2926080" cy="292608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"/>
            <a:ext cx="256032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 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1600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Delivery Business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65760" y="2514600"/>
            <a:ext cx="2286000" cy="457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697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Suryadharshini Gneshamoorthy  ·  Sudharshan Murali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for Data Science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Abu Hena Al Muktadir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801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impact of COVID-19 on the parcel delivery industry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2286000"/>
            <a:ext cx="841248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4231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2019 vs. 2020 parcel shipment volumes across weeks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65760" y="3429000"/>
            <a:ext cx="841248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5661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behavioral and demand trends among customer segments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77724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7899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Included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420624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011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578608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670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(2019 / 2020)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3236976"/>
            <a:ext cx="420624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3284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Number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89534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9867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Volume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46320" y="1005840"/>
            <a:ext cx="4206240" cy="777240"/>
          </a:xfrm>
          <a:prstGeom prst="rect">
            <a:avLst/>
          </a:prstGeom>
          <a:solidFill>
            <a:srgbClr val="1A9874"/>
          </a:solidFill>
          <a:ln w="12700">
            <a:solidFill>
              <a:srgbClr val="1A9874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32120" y="107899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Characteristics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846320" y="1920240"/>
            <a:ext cx="420624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0" y="2011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shipment records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46320" y="2578608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0" y="2670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longitudinal data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846320" y="3236976"/>
            <a:ext cx="420624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0" y="33284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Multi-customer tracking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846320" y="389534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0" y="39867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tabular format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Parcel Volume by Year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05840"/>
            <a:ext cx="2834640" cy="37490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005840"/>
            <a:ext cx="283464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0698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73952" y="10698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35040" y="169164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saw a dramatic +39% spike vs 2019 (52.8M → 73.5M parcels), driven by COVID-19 lockdowns and e-commerce growth.
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dropped back to 48.7M in 2021, near 2018 levels, confirming the surge was pandemic-driven.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Parcel Volume Trend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331720" y="1051560"/>
            <a:ext cx="36576" cy="2926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95728" y="1280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surge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Period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651760" cy="182880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Growth (ISGR)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26517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Weeks 1–15, 2019 vs 2020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651760" cy="1828800"/>
          </a:xfrm>
          <a:prstGeom prst="rect">
            <a:avLst/>
          </a:prstGeom>
          <a:solidFill>
            <a:srgbClr val="1A6B52"/>
          </a:solidFill>
          <a:ln w="12700">
            <a:solidFill>
              <a:srgbClr val="1A6B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0040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Total Parcel Growth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852928"/>
            <a:ext cx="26517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52.8M (2019) → 73.5M (2020)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024128"/>
            <a:ext cx="2651760" cy="18288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+26.5%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 Growth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852928"/>
            <a:ext cx="26517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2019-20 vs 2020-21 (Wks 45-3)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0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51560" y="37490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ISGR of 11.4% (Weeks 1–15) establishes the pre-COVID baseline. COVID impact is measured as growth above this rate from Week 16 onwards.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 Comparison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05840"/>
            <a:ext cx="283464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005840"/>
            <a:ext cx="283464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0698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73952" y="10698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35040" y="169164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 2020-21 reached 19.4M parcels vs 15.4M in 2019-20 — a +26.5% increase. COVID significantly amplified holiday shipping demand, driven by online retail.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Growth Distribution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6012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960120"/>
            <a:ext cx="3474720" cy="1097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0972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932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 High Growth · 33.8% Declining · 7.1% Stable · 2.8% Lost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303520" y="2240280"/>
            <a:ext cx="201168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96128" y="22860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Growth: 56.3%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303520" y="2926080"/>
            <a:ext cx="201168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96128" y="2971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Declining: 33.8%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03520" y="3611880"/>
            <a:ext cx="201168" cy="43891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596128" y="3657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 7.1%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303520" y="4297680"/>
            <a:ext cx="201168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596128" y="4343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Lost: 2.8%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Growth by Customer Group (2020 vs 2019)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05840"/>
            <a:ext cx="283464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005840"/>
            <a:ext cx="2834640" cy="5943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0698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73952" y="10698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Insights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35040" y="1737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customers: 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+67.7% — highest growth (530 customers)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035040" y="26517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customers: 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+47.4% (265 customers)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035040" y="35661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/ Enterprise: 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+42.1% and +38.0% respectively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Status by Group During COVID Period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960120"/>
            <a:ext cx="2834640" cy="45720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9875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|  High Growth  |  Declining  |  Lost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1463040"/>
            <a:ext cx="283464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5087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79222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0" y="16002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63.0%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98080" y="16002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83880" y="16002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221284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2585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25420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n=212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58000" y="23500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98080" y="23500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36.3%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83880" y="235000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35040" y="2962656"/>
            <a:ext cx="283464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300837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80760" y="3291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n=265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58000" y="309981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98080" y="309981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83880" y="309981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035040" y="371246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0760" y="375818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080760" y="40416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n=530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38496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498080" y="38496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183880" y="384962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Revenue Impact by Customer Group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94760"/>
          <a:ext cx="8412480" cy="118872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188720"/>
                <a:gridCol w="1463040"/>
                <a:gridCol w="1463040"/>
                <a:gridCol w="19202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$1,022.8M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$1,411.9M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+$389.1M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$92.2M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$131.0M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+$38.8M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+$12.7M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+$13.8M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06440" y="960120"/>
            <a:ext cx="2971800" cy="26517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806440" y="960120"/>
            <a:ext cx="29718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10058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9360" y="1005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897880" y="155448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dominates total volume but Small customers grew fastest (+67.7%). COVID unlocked $454M in additional revenue across all groups at $22/parcel.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26187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 on Customer Groups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8745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did not include predefined customer groups or segments.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groups were derived by the team based on each customer's 2019 parcel volume.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880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Groupings: Small (&lt;10,000 parcels), Medium (10,000–50,000 parcels), Large (&gt;50,000 parcels).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3832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segmentation was applied consistently across both 2019 and 2020 data.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8862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growth rates by group must be interpreted with this classification method in mind.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2860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700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968" y="114300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drove a +39% surge in parcels: 52.8M (2019) → 73.5M (2020)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1109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968" y="184708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impact first appeared at Week 14–16, 2020 — volume up 65–128% vs 2019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15184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6968" y="255117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 of customers were High Growth; only 2.8% were Lost during COVID period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19272"/>
            <a:ext cx="384048" cy="3840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86968" y="3255264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 2020-21 grew +26.5% over 2019-20 (19.4M vs 15.4M parcels)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023360"/>
            <a:ext cx="384048" cy="3840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6968" y="39593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customers grew fastest (+67.7%); Enterprise drove highest revenue (+$389M)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06240" cy="1828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206240" cy="5943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789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789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Delivery Capacity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6459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fleet and workforce to meet sustained post-COVID demand levels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206240" cy="1828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960120"/>
            <a:ext cx="4206240" cy="594360"/>
          </a:xfrm>
          <a:prstGeom prst="rect">
            <a:avLst/>
          </a:prstGeom>
          <a:solidFill>
            <a:srgbClr val="1A9874"/>
          </a:solidFill>
          <a:ln w="12700">
            <a:solidFill>
              <a:srgbClr val="1A987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07899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0789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Demand Forecasting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6459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historical weekly data to better predict surges and allocate resources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3017520"/>
            <a:ext cx="4206240" cy="1828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3017520"/>
            <a:ext cx="4206240" cy="5943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13639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363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High-Growth Customers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3703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loyalty programs and dedicated service tiers for fast-growing customer segments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4206240" cy="1828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3017520"/>
            <a:ext cx="4206240" cy="594360"/>
          </a:xfrm>
          <a:prstGeom prst="rect">
            <a:avLst/>
          </a:prstGeom>
          <a:solidFill>
            <a:srgbClr val="A04000"/>
          </a:solidFill>
          <a:ln w="12700">
            <a:solidFill>
              <a:srgbClr val="A040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13639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1363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Peak Season Logistics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92040" y="3703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Pre-scale operations before Q4 to capitalize on amplified holiday demand trends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Impact on Parcel Delivery Business</dc:title>
  <dc:subject>PptxGenJS Presentation</dc:subject>
  <dc:creator>PptxGenJS</dc:creator>
  <cp:lastModifiedBy>PptxGenJS</cp:lastModifiedBy>
  <cp:revision>1</cp:revision>
  <dcterms:created xsi:type="dcterms:W3CDTF">2026-04-19T22:43:09Z</dcterms:created>
  <dcterms:modified xsi:type="dcterms:W3CDTF">2026-04-19T22:43:09Z</dcterms:modified>
</cp:coreProperties>
</file>